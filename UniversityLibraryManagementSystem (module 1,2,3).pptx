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embeddedFontLst>
    <p:embeddedFont>
      <p:font typeface="Plus Jakarta Sans"/>
      <p:bold r:id="rId1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4146202"/>
            <a:ext cx="10668000" cy="10858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62000" y="4146202"/>
            <a:ext cx="106680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625947"/>
            <a:ext cx="381000" cy="381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775" y="1721197"/>
            <a:ext cx="171450" cy="190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2159347"/>
            <a:ext cx="9601200" cy="1139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sz="3900" b="1" i="0" u="none">
                <a:solidFill>
                  <a:srgbClr val="FFFFFF"/>
                </a:solidFill>
                <a:latin typeface="Plus Jakarta Sans"/>
              </a:rPr>
              <a:t>University Library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450877"/>
            <a:ext cx="83343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94A3B8"/>
                </a:solidFill>
                <a:latin typeface="Plus Jakarta Sans"/>
              </a:rPr>
              <a:t>Automating Circulation, Inventory, and Academic Book Discovery in Java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57300" y="1725959"/>
            <a:ext cx="7155656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8BDF8"/>
                </a:solidFill>
                <a:latin typeface="Plus Jakarta Sans"/>
              </a:rPr>
              <a:t>JAVA FOUNDATIONS &amp; OBJECT-ORIENTED PROJECT 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4422427"/>
            <a:ext cx="8763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4748B"/>
                </a:solidFill>
                <a:latin typeface="Plus Jakarta Sans"/>
              </a:rPr>
              <a:t>TEAM NO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4612927"/>
            <a:ext cx="8763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E2E8F0"/>
                </a:solidFill>
                <a:latin typeface="Plus Jakarta Sans"/>
              </a:rPr>
              <a:t>Team 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57350" y="4422427"/>
            <a:ext cx="264318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4748B"/>
                </a:solidFill>
                <a:latin typeface="Plus Jakarta Sans"/>
              </a:rPr>
              <a:t>STUDENT MEMBERS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7350" y="4612927"/>
            <a:ext cx="2643187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E2E8F0"/>
                </a:solidFill>
                <a:latin typeface="Plus Jakarta Sans"/>
              </a:rPr>
              <a:t>R. Deethya • 2620030064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57350" y="4832002"/>
            <a:ext cx="1510029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 dirty="0">
                <a:solidFill>
                  <a:srgbClr val="E2E8F0"/>
                </a:solidFill>
                <a:latin typeface="Plus Jakarta Sans"/>
              </a:rPr>
              <a:t>T. Abhigna • 2620030455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57350" y="5051077"/>
            <a:ext cx="2643187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E2E8F0"/>
                </a:solidFill>
                <a:latin typeface="Plus Jakarta Sans"/>
              </a:rPr>
              <a:t>K. Keerthi Priya • 2620030495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5953125"/>
            <a:ext cx="10668000" cy="3714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2000" y="1476375"/>
            <a:ext cx="5181600" cy="4362450"/>
          </a:xfrm>
          <a:prstGeom prst="roundRect">
            <a:avLst>
              <a:gd name="adj" fmla="val 349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48400" y="1476375"/>
            <a:ext cx="5181600" cy="4362450"/>
          </a:xfrm>
          <a:prstGeom prst="roundRect">
            <a:avLst>
              <a:gd name="adj" fmla="val 349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62000" y="5953125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62000" y="1476375"/>
            <a:ext cx="57150" cy="43624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248400" y="1476375"/>
            <a:ext cx="57150" cy="436245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850" y="2805112"/>
            <a:ext cx="190500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250" y="3105150"/>
            <a:ext cx="190500" cy="190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SLIDE 01 • EXECUTIVE SUMMARY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781050"/>
            <a:ext cx="114300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Abstract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6153150"/>
            <a:ext cx="30480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University Library Management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4125" y="6153150"/>
            <a:ext cx="1607343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Project Presentation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5850" y="3124200"/>
            <a:ext cx="4686300" cy="1400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Plus Jakarta Sans"/>
              </a:rPr>
              <a:t>University Library Management System is a computerized application designed to simplify and automate the daily operations of a university library. Traditional library management involves maintaining book records, student information, issue and return details, and fine calculations manually, which can be time-consuming and prone to errors. The proposed system provides a centralized platform for efficiently managing these activities.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72250" y="3424237"/>
            <a:ext cx="4686300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Plus Jakarta Sans"/>
              </a:rPr>
              <a:t>The system maintains details of books, students, librarians, availability, and transactions. Librarians manage records while students check availability. Future enhancements include barcode/QR scanning, online reservations, email notifications, mobile support, and digital library integration.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90650" y="2790825"/>
            <a:ext cx="1950243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System Overview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77050" y="3090862"/>
            <a:ext cx="277534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Core Objectives &amp; Scope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5953125"/>
            <a:ext cx="10668000" cy="3714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2000" y="2619375"/>
            <a:ext cx="3403550" cy="2076450"/>
          </a:xfrm>
          <a:prstGeom prst="roundRect">
            <a:avLst>
              <a:gd name="adj" fmla="val 550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94150" y="2619375"/>
            <a:ext cx="3403550" cy="2076450"/>
          </a:xfrm>
          <a:prstGeom prst="roundRect">
            <a:avLst>
              <a:gd name="adj" fmla="val 550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26300" y="2619375"/>
            <a:ext cx="3403550" cy="2076450"/>
          </a:xfrm>
          <a:prstGeom prst="roundRect">
            <a:avLst>
              <a:gd name="adj" fmla="val 550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62000" y="5953125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62000" y="2619375"/>
            <a:ext cx="340355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394150" y="2619375"/>
            <a:ext cx="340355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026300" y="2619375"/>
            <a:ext cx="340355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2924175"/>
            <a:ext cx="457200" cy="4572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0850" y="2924175"/>
            <a:ext cx="457200" cy="4572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3000" y="2924175"/>
            <a:ext cx="457200" cy="4572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2525" y="3048000"/>
            <a:ext cx="209550" cy="2095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4675" y="3048000"/>
            <a:ext cx="209550" cy="2095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40638" y="3048000"/>
            <a:ext cx="161925" cy="2095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SLIDE 02 • CHALLENGES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781050"/>
            <a:ext cx="114300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Understanding Problem Statement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6153150"/>
            <a:ext cx="30480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University Library Management System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4125" y="6153150"/>
            <a:ext cx="1607343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Project Presentation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700" y="3533775"/>
            <a:ext cx="376707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Manual Inefficiencies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" y="3829050"/>
            <a:ext cx="296540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Paper records for book issues, returns, and memberships are time-consuming and error-prone.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0850" y="3533775"/>
            <a:ext cx="376707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Tracking Challenges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0850" y="3829050"/>
            <a:ext cx="296540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Difficult to verify real-time book availability and student borrowing limits manually.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93000" y="3533775"/>
            <a:ext cx="376707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Fine Calculation Gaps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93000" y="3829050"/>
            <a:ext cx="296540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Inconsistent calculation of overdue penalties leading to administrative disputes.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5953125"/>
            <a:ext cx="10668000" cy="3714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2000" y="1771650"/>
            <a:ext cx="3429000" cy="4067175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81500" y="1771650"/>
            <a:ext cx="3429000" cy="4067175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01000" y="1771650"/>
            <a:ext cx="3429000" cy="4067175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62000" y="5953125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2000250"/>
            <a:ext cx="342900" cy="3429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0100" y="2000250"/>
            <a:ext cx="342900" cy="3429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2000250"/>
            <a:ext cx="342900" cy="3429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5850" y="2085975"/>
            <a:ext cx="152400" cy="1714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5350" y="2085975"/>
            <a:ext cx="152400" cy="1714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5800" y="2085975"/>
            <a:ext cx="190500" cy="1714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SLIDE 03 • CO 1 TOPICS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781050"/>
            <a:ext cx="11301412" cy="723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0F172A"/>
                </a:solidFill>
                <a:latin typeface="Plus Jakarta Sans"/>
              </a:rPr>
              <a:t>Module 1 - From Problem to Program: Computational Thinking &amp; Java Foundations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6153150"/>
            <a:ext cx="30480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University Library Management 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44125" y="6153150"/>
            <a:ext cx="1607343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Project Presentation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0600" y="2457450"/>
            <a:ext cx="390048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Problem Solving &amp; Flow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0600" y="2733675"/>
            <a:ext cx="3067050" cy="5197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475569"/>
                </a:solidFill>
                <a:latin typeface="Plus Jakarta Sans"/>
              </a:rPr>
              <a:t>Introduction to problem solving, algorithm design, and flowcharts applied to library circulation workflows.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0100" y="2457450"/>
            <a:ext cx="390048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Java Model &amp; Primitives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0100" y="2733675"/>
            <a:ext cx="3067050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475569"/>
                </a:solidFill>
                <a:latin typeface="Plus Jakarta Sans"/>
              </a:rPr>
              <a:t>Java environment, structure, primitive data types, variables, constants, identifiers, and literals.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2457450"/>
            <a:ext cx="390048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Operators &amp; I/O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2733675"/>
            <a:ext cx="3067050" cy="5197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475569"/>
                </a:solidFill>
                <a:latin typeface="Plus Jakarta Sans"/>
              </a:rPr>
              <a:t>Arithmetic, relational, logical, assignment, ternary, bitwise operators, typecasting, expressions, and Scanner I/O.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5953125"/>
            <a:ext cx="10668000" cy="3714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2000" y="2672804"/>
            <a:ext cx="3403550" cy="1921966"/>
          </a:xfrm>
          <a:prstGeom prst="roundRect">
            <a:avLst>
              <a:gd name="adj" fmla="val 594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94150" y="2672804"/>
            <a:ext cx="3403550" cy="1921966"/>
          </a:xfrm>
          <a:prstGeom prst="roundRect">
            <a:avLst>
              <a:gd name="adj" fmla="val 594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26300" y="2672804"/>
            <a:ext cx="3403550" cy="1921966"/>
          </a:xfrm>
          <a:prstGeom prst="roundRect">
            <a:avLst>
              <a:gd name="adj" fmla="val 594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62000" y="5953125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2939504"/>
            <a:ext cx="381000" cy="381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0850" y="2939504"/>
            <a:ext cx="381000" cy="381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3000" y="2939504"/>
            <a:ext cx="381000" cy="3810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3950" y="3034754"/>
            <a:ext cx="190500" cy="190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6100" y="3034754"/>
            <a:ext cx="190500" cy="190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8250" y="3034754"/>
            <a:ext cx="190500" cy="190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SLIDE 04 • CO 2 TOPICS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781050"/>
            <a:ext cx="114300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Module 2 - Control Flow: Selection &amp; Iteration Control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6153150"/>
            <a:ext cx="30480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University Library Management 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44125" y="6153150"/>
            <a:ext cx="1607343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Project Presentation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8700" y="3453854"/>
            <a:ext cx="376707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Conditional Branching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" y="3768179"/>
            <a:ext cx="2965400" cy="5598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Plus Jakarta Sans"/>
              </a:rPr>
              <a:t>Implemented if, if-else, nested-if, and if-else-if ladders to check book availability and member borrowing eligibility.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0850" y="3453854"/>
            <a:ext cx="376707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Switch Menus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0850" y="3768179"/>
            <a:ext cx="2965400" cy="5598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Plus Jakarta Sans"/>
              </a:rPr>
              <a:t>Switch statements with default, break, and compound statements for librarian and student dashboard navigation.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3000" y="3453854"/>
            <a:ext cx="376707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Iteration &amp; Loops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3000" y="3768179"/>
            <a:ext cx="2965400" cy="5598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Plus Jakarta Sans"/>
              </a:rPr>
              <a:t>Utilized while, do-while, for loops, continue statements, infinite loops, and nested loops for batch transaction processing.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5953125"/>
            <a:ext cx="10668000" cy="3714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2000" y="1409700"/>
            <a:ext cx="3429000" cy="4429125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81500" y="1409700"/>
            <a:ext cx="3429000" cy="4429125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01000" y="1409700"/>
            <a:ext cx="3429000" cy="4429125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62000" y="5953125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1638300"/>
            <a:ext cx="342900" cy="3429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0100" y="1638300"/>
            <a:ext cx="342900" cy="3429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638300"/>
            <a:ext cx="342900" cy="3429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325" y="1724025"/>
            <a:ext cx="171450" cy="1714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5825" y="1724025"/>
            <a:ext cx="171450" cy="1714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15325" y="1724025"/>
            <a:ext cx="171450" cy="1714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SLIDE 05 • CO 3 TOPICS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781050"/>
            <a:ext cx="11430000" cy="3619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50" b="1" i="0" u="none" dirty="0">
                <a:solidFill>
                  <a:srgbClr val="0F172A"/>
                </a:solidFill>
                <a:latin typeface="Plus Jakarta Sans"/>
              </a:rPr>
              <a:t>Module 3 - Decomposition with Methods, Recursion &amp; Arrays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6153150"/>
            <a:ext cx="30480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University Library Management 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44125" y="6153150"/>
            <a:ext cx="1607343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Project Presentation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0600" y="2095500"/>
            <a:ext cx="390048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Modular Programming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0600" y="2371725"/>
            <a:ext cx="3067050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475569"/>
                </a:solidFill>
                <a:latin typeface="Plus Jakarta Sans"/>
              </a:rPr>
              <a:t>Methods definition, invocation, parameters, return values, overloading, and enhanced for-each loops.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0100" y="2095500"/>
            <a:ext cx="390048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Recursion &amp; 1D Arrays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0100" y="2371725"/>
            <a:ext cx="3067050" cy="5197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475569"/>
                </a:solidFill>
                <a:latin typeface="Plus Jakarta Sans"/>
              </a:rPr>
              <a:t>Recursive base/recursive cases, 1D-array traversal, searching, summation, average, and counting book logs.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2095500"/>
            <a:ext cx="390048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2D-Array Matrices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2371725"/>
            <a:ext cx="3067050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475569"/>
                </a:solidFill>
                <a:latin typeface="Plus Jakarta Sans"/>
              </a:rPr>
              <a:t>Utilized 2D-array matrices for multi-departmental library inventory and rack allocation arithmetic.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3967162"/>
            <a:ext cx="10668000" cy="1000125"/>
          </a:xfrm>
          <a:prstGeom prst="roundRect">
            <a:avLst>
              <a:gd name="adj" fmla="val 11428"/>
            </a:avLst>
          </a:prstGeom>
          <a:solidFill>
            <a:srgbClr val="131D3B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890712"/>
            <a:ext cx="381000" cy="381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437" y="1985962"/>
            <a:ext cx="238125" cy="190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8225" y="4271962"/>
            <a:ext cx="133350" cy="1333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2424112"/>
            <a:ext cx="11430000" cy="533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FFFFFF"/>
                </a:solidFill>
                <a:latin typeface="Plus Jakarta Sans"/>
              </a:rPr>
              <a:t>GitHub Link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186112"/>
            <a:ext cx="771525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94A3B8"/>
                </a:solidFill>
                <a:latin typeface="Plus Jakarta Sans"/>
              </a:rPr>
              <a:t>Access the complete project repository and code collaboration platform through the link below.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57300" y="1990725"/>
            <a:ext cx="328612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8BDF8"/>
                </a:solidFill>
                <a:latin typeface="Plus Jakarta Sans"/>
              </a:rPr>
              <a:t>SOURCE CODE &amp; REPOSITORY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8225" y="4243387"/>
            <a:ext cx="11153775" cy="171450"/>
          </a:xfrm>
          <a:prstGeom prst="rect">
            <a:avLst/>
          </a:prstGeom>
          <a:noFill/>
        </p:spPr>
        <p:txBody>
          <a:bodyPr wrap="none" lIns="13335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Plus Jakarta Sans"/>
              </a:rPr>
              <a:t> Repository URL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8225" y="4491037"/>
            <a:ext cx="111537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Plus Jakarta Sans"/>
              </a:rPr>
              <a:t>https://github.com/keerthipriyak0503-byte/University-Library-Management-System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830AC-EA19-FA32-E1EF-5221A6CAA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397933"/>
            <a:ext cx="8229600" cy="1143000"/>
          </a:xfrm>
        </p:spPr>
        <p:txBody>
          <a:bodyPr/>
          <a:lstStyle/>
          <a:p>
            <a:r>
              <a:rPr lang="en-IN" dirty="0">
                <a:solidFill>
                  <a:schemeClr val="bg1"/>
                </a:solidFill>
              </a:rPr>
              <a:t>GEO TAG PHOTO</a:t>
            </a:r>
          </a:p>
        </p:txBody>
      </p:sp>
      <p:pic>
        <p:nvPicPr>
          <p:cNvPr id="5" name="Content Placeholder 4" descr="The image shows a presentation screen with a map of Hyderabad, Telangana, India, and various geographical coordinates, with a focus on a specific location.&#10;&#10;AI-generated content may be incorrect.">
            <a:extLst>
              <a:ext uri="{FF2B5EF4-FFF2-40B4-BE49-F238E27FC236}">
                <a16:creationId xmlns:a16="http://schemas.microsoft.com/office/drawing/2014/main" id="{BE5ADA13-3CE5-6341-2498-0A896908E5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41624" y="1540933"/>
            <a:ext cx="6034617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8673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524</Words>
  <Application>Microsoft Office PowerPoint</Application>
  <PresentationFormat>Widescreen</PresentationFormat>
  <Paragraphs>63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Plus Jakarta Sans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GEO TAG PHOTO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keerthipriya0503@outlook.com</cp:lastModifiedBy>
  <cp:revision>2</cp:revision>
  <dcterms:created xsi:type="dcterms:W3CDTF">2013-01-27T09:14:16Z</dcterms:created>
  <dcterms:modified xsi:type="dcterms:W3CDTF">2026-09-22T10:10:37Z</dcterms:modified>
  <cp:category/>
</cp:coreProperties>
</file>